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" charset="1" panose="00000500000000000000"/>
      <p:regular r:id="rId14"/>
    </p:embeddedFont>
    <p:embeddedFont>
      <p:font typeface="Poppins Bold" charset="1" panose="00000800000000000000"/>
      <p:regular r:id="rId15"/>
    </p:embeddedFont>
    <p:embeddedFont>
      <p:font typeface="Poppins Light" charset="1" panose="000004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B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81600" y="-2681288"/>
            <a:ext cx="15649575" cy="1564957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62850" y="-2681288"/>
            <a:ext cx="15649575" cy="1564957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6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953288" y="2244406"/>
            <a:ext cx="1055411" cy="191893"/>
          </a:xfrm>
          <a:custGeom>
            <a:avLst/>
            <a:gdLst/>
            <a:ahLst/>
            <a:cxnLst/>
            <a:rect r="r" b="b" t="t" l="l"/>
            <a:pathLst>
              <a:path h="191893" w="1055411">
                <a:moveTo>
                  <a:pt x="0" y="0"/>
                </a:moveTo>
                <a:lnTo>
                  <a:pt x="1055412" y="0"/>
                </a:lnTo>
                <a:lnTo>
                  <a:pt x="1055412" y="191893"/>
                </a:lnTo>
                <a:lnTo>
                  <a:pt x="0" y="191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85443" y="2244406"/>
            <a:ext cx="1055411" cy="191893"/>
          </a:xfrm>
          <a:custGeom>
            <a:avLst/>
            <a:gdLst/>
            <a:ahLst/>
            <a:cxnLst/>
            <a:rect r="r" b="b" t="t" l="l"/>
            <a:pathLst>
              <a:path h="191893" w="1055411">
                <a:moveTo>
                  <a:pt x="0" y="0"/>
                </a:moveTo>
                <a:lnTo>
                  <a:pt x="1055411" y="0"/>
                </a:lnTo>
                <a:lnTo>
                  <a:pt x="1055411" y="191893"/>
                </a:lnTo>
                <a:lnTo>
                  <a:pt x="0" y="191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633695" y="192103"/>
            <a:ext cx="2469631" cy="822144"/>
          </a:xfrm>
          <a:custGeom>
            <a:avLst/>
            <a:gdLst/>
            <a:ahLst/>
            <a:cxnLst/>
            <a:rect r="r" b="b" t="t" l="l"/>
            <a:pathLst>
              <a:path h="822144" w="2469631">
                <a:moveTo>
                  <a:pt x="0" y="0"/>
                </a:moveTo>
                <a:lnTo>
                  <a:pt x="2469631" y="0"/>
                </a:lnTo>
                <a:lnTo>
                  <a:pt x="2469631" y="822144"/>
                </a:lnTo>
                <a:lnTo>
                  <a:pt x="0" y="822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246354" y="1968877"/>
            <a:ext cx="180096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sz="500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Pitch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48683" y="3383414"/>
            <a:ext cx="8814546" cy="176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80"/>
              </a:lnSpc>
              <a:spcBef>
                <a:spcPct val="0"/>
              </a:spcBef>
            </a:pPr>
            <a:r>
              <a:rPr lang="en-US" b="true" sz="11741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Mentorship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952697"/>
            <a:ext cx="4673988" cy="1753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80"/>
              </a:lnSpc>
              <a:spcBef>
                <a:spcPct val="0"/>
              </a:spcBef>
            </a:pPr>
            <a:r>
              <a:rPr lang="en-US" b="true" sz="11741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Portal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1968877"/>
            <a:ext cx="1572509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sz="500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78979" y="1968877"/>
            <a:ext cx="121517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sz="500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Win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88718" y="9277350"/>
            <a:ext cx="4976955" cy="33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7"/>
              </a:lnSpc>
              <a:spcBef>
                <a:spcPct val="0"/>
              </a:spcBef>
            </a:pPr>
            <a:r>
              <a:rPr lang="en-US" sz="2312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Made By: Piya Kakar, Vidit Sharma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57775" y="9674085"/>
            <a:ext cx="5499282" cy="330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31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University: IILM UNIVERSITY, Gurugram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B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67055" y="4323211"/>
            <a:ext cx="7626057" cy="8531075"/>
            <a:chOff x="0" y="0"/>
            <a:chExt cx="72657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6574" cy="812800"/>
            </a:xfrm>
            <a:custGeom>
              <a:avLst/>
              <a:gdLst/>
              <a:ahLst/>
              <a:cxnLst/>
              <a:rect r="r" b="b" t="t" l="l"/>
              <a:pathLst>
                <a:path h="812800" w="726574">
                  <a:moveTo>
                    <a:pt x="363287" y="0"/>
                  </a:moveTo>
                  <a:cubicBezTo>
                    <a:pt x="162649" y="0"/>
                    <a:pt x="0" y="181951"/>
                    <a:pt x="0" y="406400"/>
                  </a:cubicBezTo>
                  <a:cubicBezTo>
                    <a:pt x="0" y="630849"/>
                    <a:pt x="162649" y="812800"/>
                    <a:pt x="363287" y="812800"/>
                  </a:cubicBezTo>
                  <a:cubicBezTo>
                    <a:pt x="563925" y="812800"/>
                    <a:pt x="726574" y="630849"/>
                    <a:pt x="726574" y="406400"/>
                  </a:cubicBezTo>
                  <a:cubicBezTo>
                    <a:pt x="726574" y="181951"/>
                    <a:pt x="563925" y="0"/>
                    <a:pt x="363287" y="0"/>
                  </a:cubicBezTo>
                  <a:close/>
                </a:path>
              </a:pathLst>
            </a:custGeom>
            <a:solidFill>
              <a:srgbClr val="FEF0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8116" y="76200"/>
              <a:ext cx="590342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97582" y="1806309"/>
            <a:ext cx="10810889" cy="125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2"/>
              </a:lnSpc>
              <a:spcBef>
                <a:spcPct val="0"/>
              </a:spcBef>
            </a:pPr>
            <a:r>
              <a:rPr lang="en-US" b="true" sz="8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03527" y="3840811"/>
            <a:ext cx="10519676" cy="3325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96" indent="-323898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Students often face difficulty in accessing timely and relevant guidance for academics, internships, research, career planning, and personal growth.</a:t>
            </a:r>
          </a:p>
          <a:p>
            <a:pPr algn="just">
              <a:lnSpc>
                <a:spcPts val="3240"/>
              </a:lnSpc>
            </a:pPr>
          </a:p>
          <a:p>
            <a:pPr algn="just" marL="647796" indent="-323898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Although alumni, senior students, and faculty are willing to mentor, there is no centralized platform to connect mentors and mentees in a structured and transparent way.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633695" y="192103"/>
            <a:ext cx="2469631" cy="822144"/>
          </a:xfrm>
          <a:custGeom>
            <a:avLst/>
            <a:gdLst/>
            <a:ahLst/>
            <a:cxnLst/>
            <a:rect r="r" b="b" t="t" l="l"/>
            <a:pathLst>
              <a:path h="822144" w="2469631">
                <a:moveTo>
                  <a:pt x="0" y="0"/>
                </a:moveTo>
                <a:lnTo>
                  <a:pt x="2469631" y="0"/>
                </a:lnTo>
                <a:lnTo>
                  <a:pt x="2469631" y="822144"/>
                </a:lnTo>
                <a:lnTo>
                  <a:pt x="0" y="8221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5337" y="192103"/>
            <a:ext cx="4189952" cy="1002598"/>
            <a:chOff x="0" y="0"/>
            <a:chExt cx="1698384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8384" cy="406400"/>
            </a:xfrm>
            <a:custGeom>
              <a:avLst/>
              <a:gdLst/>
              <a:ahLst/>
              <a:cxnLst/>
              <a:rect r="r" b="b" t="t" l="l"/>
              <a:pathLst>
                <a:path h="406400" w="1698384">
                  <a:moveTo>
                    <a:pt x="1495184" y="0"/>
                  </a:moveTo>
                  <a:cubicBezTo>
                    <a:pt x="1607408" y="0"/>
                    <a:pt x="1698384" y="90976"/>
                    <a:pt x="1698384" y="203200"/>
                  </a:cubicBezTo>
                  <a:cubicBezTo>
                    <a:pt x="1698384" y="315424"/>
                    <a:pt x="1607408" y="406400"/>
                    <a:pt x="149518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69838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  <a:r>
                <a:rPr lang="en-US" sz="1775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Mentorship Portal</a:t>
              </a:r>
            </a:p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67115" y="412610"/>
            <a:ext cx="561585" cy="561585"/>
          </a:xfrm>
          <a:custGeom>
            <a:avLst/>
            <a:gdLst/>
            <a:ahLst/>
            <a:cxnLst/>
            <a:rect r="r" b="b" t="t" l="l"/>
            <a:pathLst>
              <a:path h="561585" w="561585">
                <a:moveTo>
                  <a:pt x="0" y="0"/>
                </a:moveTo>
                <a:lnTo>
                  <a:pt x="561585" y="0"/>
                </a:lnTo>
                <a:lnTo>
                  <a:pt x="561585" y="561584"/>
                </a:lnTo>
                <a:lnTo>
                  <a:pt x="0" y="56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1752" y="500760"/>
            <a:ext cx="3051151" cy="38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8"/>
              </a:lnSpc>
              <a:spcBef>
                <a:spcPct val="0"/>
              </a:spcBef>
            </a:pPr>
            <a:r>
              <a:rPr lang="en-US" b="true" sz="2535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Mentorship Portal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B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46310" y="5912091"/>
            <a:ext cx="5984568" cy="6050633"/>
            <a:chOff x="0" y="0"/>
            <a:chExt cx="719015" cy="726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015" cy="726953"/>
            </a:xfrm>
            <a:custGeom>
              <a:avLst/>
              <a:gdLst/>
              <a:ahLst/>
              <a:cxnLst/>
              <a:rect r="r" b="b" t="t" l="l"/>
              <a:pathLst>
                <a:path h="726953" w="719015">
                  <a:moveTo>
                    <a:pt x="359508" y="0"/>
                  </a:moveTo>
                  <a:cubicBezTo>
                    <a:pt x="160957" y="0"/>
                    <a:pt x="0" y="162734"/>
                    <a:pt x="0" y="363476"/>
                  </a:cubicBezTo>
                  <a:cubicBezTo>
                    <a:pt x="0" y="564219"/>
                    <a:pt x="160957" y="726953"/>
                    <a:pt x="359508" y="726953"/>
                  </a:cubicBezTo>
                  <a:cubicBezTo>
                    <a:pt x="558058" y="726953"/>
                    <a:pt x="719015" y="564219"/>
                    <a:pt x="719015" y="363476"/>
                  </a:cubicBezTo>
                  <a:cubicBezTo>
                    <a:pt x="719015" y="162734"/>
                    <a:pt x="558058" y="0"/>
                    <a:pt x="35950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7408" y="68152"/>
              <a:ext cx="584200" cy="590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908049" y="1475125"/>
            <a:ext cx="7389341" cy="159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11"/>
              </a:lnSpc>
              <a:spcBef>
                <a:spcPct val="0"/>
              </a:spcBef>
            </a:pPr>
            <a:r>
              <a:rPr lang="en-US" b="true" sz="1056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46415" y="3889259"/>
            <a:ext cx="9455364" cy="735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267" indent="-283633" lvl="1">
              <a:lnSpc>
                <a:spcPts val="2837"/>
              </a:lnSpc>
              <a:buFont typeface="Arial"/>
              <a:buChar char="•"/>
            </a:pPr>
            <a:r>
              <a:rPr lang="en-US" sz="26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 a centralized mentorship platform for our college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65038" y="5350652"/>
            <a:ext cx="7143171" cy="7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021" indent="-290510" lvl="1">
              <a:lnSpc>
                <a:spcPts val="2906"/>
              </a:lnSpc>
              <a:buFont typeface="Arial"/>
              <a:buChar char="•"/>
            </a:pPr>
            <a:r>
              <a:rPr lang="en-US" sz="26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6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ake guidance easily accessible and transparent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65038" y="6678668"/>
            <a:ext cx="6398808" cy="73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2807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Enable structured mentor–mentee connections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65038" y="7975592"/>
            <a:ext cx="9269592" cy="73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2807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students in academics, careers, and personal growth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5337" y="192103"/>
            <a:ext cx="4189952" cy="1002598"/>
            <a:chOff x="0" y="0"/>
            <a:chExt cx="1698384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8384" cy="406400"/>
            </a:xfrm>
            <a:custGeom>
              <a:avLst/>
              <a:gdLst/>
              <a:ahLst/>
              <a:cxnLst/>
              <a:rect r="r" b="b" t="t" l="l"/>
              <a:pathLst>
                <a:path h="406400" w="1698384">
                  <a:moveTo>
                    <a:pt x="1495184" y="0"/>
                  </a:moveTo>
                  <a:cubicBezTo>
                    <a:pt x="1607408" y="0"/>
                    <a:pt x="1698384" y="90976"/>
                    <a:pt x="1698384" y="203200"/>
                  </a:cubicBezTo>
                  <a:cubicBezTo>
                    <a:pt x="1698384" y="315424"/>
                    <a:pt x="1607408" y="406400"/>
                    <a:pt x="149518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69838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  <a:r>
                <a:rPr lang="en-US" sz="1775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Mentorship Portal</a:t>
              </a:r>
            </a:p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67115" y="412610"/>
            <a:ext cx="561585" cy="561585"/>
          </a:xfrm>
          <a:custGeom>
            <a:avLst/>
            <a:gdLst/>
            <a:ahLst/>
            <a:cxnLst/>
            <a:rect r="r" b="b" t="t" l="l"/>
            <a:pathLst>
              <a:path h="561585" w="561585">
                <a:moveTo>
                  <a:pt x="0" y="0"/>
                </a:moveTo>
                <a:lnTo>
                  <a:pt x="561585" y="0"/>
                </a:lnTo>
                <a:lnTo>
                  <a:pt x="561585" y="561584"/>
                </a:lnTo>
                <a:lnTo>
                  <a:pt x="0" y="5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41752" y="500760"/>
            <a:ext cx="3051151" cy="38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8"/>
              </a:lnSpc>
              <a:spcBef>
                <a:spcPct val="0"/>
              </a:spcBef>
            </a:pPr>
            <a:r>
              <a:rPr lang="en-US" b="true" sz="2535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Mentorship Portal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633695" y="192103"/>
            <a:ext cx="2469631" cy="822144"/>
          </a:xfrm>
          <a:custGeom>
            <a:avLst/>
            <a:gdLst/>
            <a:ahLst/>
            <a:cxnLst/>
            <a:rect r="r" b="b" t="t" l="l"/>
            <a:pathLst>
              <a:path h="822144" w="2469631">
                <a:moveTo>
                  <a:pt x="0" y="0"/>
                </a:moveTo>
                <a:lnTo>
                  <a:pt x="2469631" y="0"/>
                </a:lnTo>
                <a:lnTo>
                  <a:pt x="2469631" y="822144"/>
                </a:lnTo>
                <a:lnTo>
                  <a:pt x="0" y="822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B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0859" y="-2217125"/>
            <a:ext cx="15649575" cy="1564957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005667" y="-2217125"/>
            <a:ext cx="15649575" cy="1564957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643908" y="2430555"/>
            <a:ext cx="5895293" cy="11664851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2832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323232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423912" y="283742"/>
            <a:ext cx="554861" cy="554861"/>
          </a:xfrm>
          <a:custGeom>
            <a:avLst/>
            <a:gdLst/>
            <a:ahLst/>
            <a:cxnLst/>
            <a:rect r="r" b="b" t="t" l="l"/>
            <a:pathLst>
              <a:path h="554861" w="554861">
                <a:moveTo>
                  <a:pt x="0" y="0"/>
                </a:moveTo>
                <a:lnTo>
                  <a:pt x="554861" y="0"/>
                </a:lnTo>
                <a:lnTo>
                  <a:pt x="554861" y="554861"/>
                </a:lnTo>
                <a:lnTo>
                  <a:pt x="0" y="554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633695" y="192103"/>
            <a:ext cx="2469631" cy="822144"/>
          </a:xfrm>
          <a:custGeom>
            <a:avLst/>
            <a:gdLst/>
            <a:ahLst/>
            <a:cxnLst/>
            <a:rect r="r" b="b" t="t" l="l"/>
            <a:pathLst>
              <a:path h="822144" w="2469631">
                <a:moveTo>
                  <a:pt x="0" y="0"/>
                </a:moveTo>
                <a:lnTo>
                  <a:pt x="2469631" y="0"/>
                </a:lnTo>
                <a:lnTo>
                  <a:pt x="2469631" y="822144"/>
                </a:lnTo>
                <a:lnTo>
                  <a:pt x="0" y="822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52606" y="1126451"/>
            <a:ext cx="7950738" cy="130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1"/>
              </a:lnSpc>
              <a:spcBef>
                <a:spcPct val="0"/>
              </a:spcBef>
            </a:pPr>
            <a:r>
              <a:rPr lang="en-US" b="true" sz="8696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Our Proposed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8259" y="2313678"/>
            <a:ext cx="4725874" cy="130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1"/>
              </a:lnSpc>
              <a:spcBef>
                <a:spcPct val="0"/>
              </a:spcBef>
            </a:pPr>
            <a:r>
              <a:rPr lang="en-US" sz="8696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303" y="3894006"/>
            <a:ext cx="9125697" cy="583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3"/>
              </a:lnSpc>
            </a:pPr>
            <a:r>
              <a:rPr lang="en-US" sz="3466" b="true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Mentorship Portal – Website</a:t>
            </a:r>
          </a:p>
          <a:p>
            <a:pPr algn="just">
              <a:lnSpc>
                <a:spcPts val="3283"/>
              </a:lnSpc>
            </a:pPr>
          </a:p>
          <a:p>
            <a:pPr algn="just" marL="656384" indent="-328192" lvl="1">
              <a:lnSpc>
                <a:spcPts val="3283"/>
              </a:lnSpc>
              <a:buFont typeface="Arial"/>
              <a:buChar char="•"/>
            </a:pPr>
            <a:r>
              <a:rPr lang="en-US" sz="304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A user-friendly mentor–mentee connection platform</a:t>
            </a:r>
          </a:p>
          <a:p>
            <a:pPr algn="just">
              <a:lnSpc>
                <a:spcPts val="3283"/>
              </a:lnSpc>
            </a:pPr>
          </a:p>
          <a:p>
            <a:pPr algn="just" marL="656384" indent="-328192" lvl="1">
              <a:lnSpc>
                <a:spcPts val="3283"/>
              </a:lnSpc>
              <a:buFont typeface="Arial"/>
              <a:buChar char="•"/>
            </a:pPr>
            <a:r>
              <a:rPr lang="en-US" sz="304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Designed specifically for college students and mentors</a:t>
            </a:r>
          </a:p>
          <a:p>
            <a:pPr algn="just">
              <a:lnSpc>
                <a:spcPts val="3283"/>
              </a:lnSpc>
            </a:pPr>
          </a:p>
          <a:p>
            <a:pPr algn="just" marL="656384" indent="-328192" lvl="1">
              <a:lnSpc>
                <a:spcPts val="3283"/>
              </a:lnSpc>
              <a:buFont typeface="Arial"/>
              <a:buChar char="•"/>
            </a:pPr>
            <a:r>
              <a:rPr lang="en-US" sz="304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Allows students to discover mentors, send requests, and track mentorships</a:t>
            </a:r>
          </a:p>
          <a:p>
            <a:pPr algn="just">
              <a:lnSpc>
                <a:spcPts val="3283"/>
              </a:lnSpc>
            </a:pPr>
          </a:p>
          <a:p>
            <a:pPr algn="just" marL="656384" indent="-328192" lvl="1">
              <a:lnSpc>
                <a:spcPts val="3283"/>
              </a:lnSpc>
              <a:buFont typeface="Arial"/>
              <a:buChar char="•"/>
            </a:pPr>
            <a:r>
              <a:rPr lang="en-US" sz="304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Clean and professional front page showcasing platform features</a:t>
            </a:r>
          </a:p>
          <a:p>
            <a:pPr algn="just">
              <a:lnSpc>
                <a:spcPts val="3283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49919"/>
            <a:ext cx="4019141" cy="48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7"/>
              </a:lnSpc>
              <a:spcBef>
                <a:spcPct val="0"/>
              </a:spcBef>
            </a:pPr>
            <a:r>
              <a:rPr lang="en-US" b="true" sz="3330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Mentorship Portal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B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337" y="192103"/>
            <a:ext cx="4189952" cy="1002598"/>
            <a:chOff x="0" y="0"/>
            <a:chExt cx="1698384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8384" cy="406400"/>
            </a:xfrm>
            <a:custGeom>
              <a:avLst/>
              <a:gdLst/>
              <a:ahLst/>
              <a:cxnLst/>
              <a:rect r="r" b="b" t="t" l="l"/>
              <a:pathLst>
                <a:path h="406400" w="1698384">
                  <a:moveTo>
                    <a:pt x="1495184" y="0"/>
                  </a:moveTo>
                  <a:cubicBezTo>
                    <a:pt x="1607408" y="0"/>
                    <a:pt x="1698384" y="90976"/>
                    <a:pt x="1698384" y="203200"/>
                  </a:cubicBezTo>
                  <a:cubicBezTo>
                    <a:pt x="1698384" y="315424"/>
                    <a:pt x="1607408" y="406400"/>
                    <a:pt x="149518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9838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  <a:r>
                <a:rPr lang="en-US" sz="1775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Mentorship Portal</a:t>
              </a:r>
            </a:p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67115" y="412610"/>
            <a:ext cx="561585" cy="561585"/>
          </a:xfrm>
          <a:custGeom>
            <a:avLst/>
            <a:gdLst/>
            <a:ahLst/>
            <a:cxnLst/>
            <a:rect r="r" b="b" t="t" l="l"/>
            <a:pathLst>
              <a:path h="561585" w="561585">
                <a:moveTo>
                  <a:pt x="0" y="0"/>
                </a:moveTo>
                <a:lnTo>
                  <a:pt x="561585" y="0"/>
                </a:lnTo>
                <a:lnTo>
                  <a:pt x="561585" y="561584"/>
                </a:lnTo>
                <a:lnTo>
                  <a:pt x="0" y="5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3695" y="192103"/>
            <a:ext cx="2469631" cy="822144"/>
          </a:xfrm>
          <a:custGeom>
            <a:avLst/>
            <a:gdLst/>
            <a:ahLst/>
            <a:cxnLst/>
            <a:rect r="r" b="b" t="t" l="l"/>
            <a:pathLst>
              <a:path h="822144" w="2469631">
                <a:moveTo>
                  <a:pt x="0" y="0"/>
                </a:moveTo>
                <a:lnTo>
                  <a:pt x="2469631" y="0"/>
                </a:lnTo>
                <a:lnTo>
                  <a:pt x="2469631" y="822144"/>
                </a:lnTo>
                <a:lnTo>
                  <a:pt x="0" y="822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7115" y="1488800"/>
            <a:ext cx="8676885" cy="8369027"/>
          </a:xfrm>
          <a:custGeom>
            <a:avLst/>
            <a:gdLst/>
            <a:ahLst/>
            <a:cxnLst/>
            <a:rect r="r" b="b" t="t" l="l"/>
            <a:pathLst>
              <a:path h="8369027" w="8676885">
                <a:moveTo>
                  <a:pt x="0" y="0"/>
                </a:moveTo>
                <a:lnTo>
                  <a:pt x="8676885" y="0"/>
                </a:lnTo>
                <a:lnTo>
                  <a:pt x="8676885" y="8369027"/>
                </a:lnTo>
                <a:lnTo>
                  <a:pt x="0" y="8369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678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1752" y="500760"/>
            <a:ext cx="3051151" cy="38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8"/>
              </a:lnSpc>
              <a:spcBef>
                <a:spcPct val="0"/>
              </a:spcBef>
            </a:pPr>
            <a:r>
              <a:rPr lang="en-US" b="true" sz="2535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Mentorship Portal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95200" y="6636227"/>
            <a:ext cx="2414109" cy="703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9"/>
              </a:lnSpc>
              <a:spcBef>
                <a:spcPct val="0"/>
              </a:spcBef>
            </a:pPr>
            <a:r>
              <a:rPr lang="en-US" b="true" sz="471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74974" y="6636227"/>
            <a:ext cx="2414109" cy="703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9"/>
              </a:lnSpc>
              <a:spcBef>
                <a:spcPct val="0"/>
              </a:spcBef>
            </a:pPr>
            <a:r>
              <a:rPr lang="en-US" b="true" sz="471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Mentee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B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3429" y="5498146"/>
            <a:ext cx="3378012" cy="3415303"/>
            <a:chOff x="0" y="0"/>
            <a:chExt cx="719015" cy="726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015" cy="726953"/>
            </a:xfrm>
            <a:custGeom>
              <a:avLst/>
              <a:gdLst/>
              <a:ahLst/>
              <a:cxnLst/>
              <a:rect r="r" b="b" t="t" l="l"/>
              <a:pathLst>
                <a:path h="726953" w="719015">
                  <a:moveTo>
                    <a:pt x="359508" y="0"/>
                  </a:moveTo>
                  <a:cubicBezTo>
                    <a:pt x="160957" y="0"/>
                    <a:pt x="0" y="162734"/>
                    <a:pt x="0" y="363476"/>
                  </a:cubicBezTo>
                  <a:cubicBezTo>
                    <a:pt x="0" y="564219"/>
                    <a:pt x="160957" y="726953"/>
                    <a:pt x="359508" y="726953"/>
                  </a:cubicBezTo>
                  <a:cubicBezTo>
                    <a:pt x="558058" y="726953"/>
                    <a:pt x="719015" y="564219"/>
                    <a:pt x="719015" y="363476"/>
                  </a:cubicBezTo>
                  <a:cubicBezTo>
                    <a:pt x="719015" y="162734"/>
                    <a:pt x="558058" y="0"/>
                    <a:pt x="35950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7408" y="68152"/>
              <a:ext cx="584200" cy="590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92904" y="4895970"/>
            <a:ext cx="553292" cy="55329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3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857664" y="1613152"/>
            <a:ext cx="8243568" cy="148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90"/>
              </a:lnSpc>
              <a:spcBef>
                <a:spcPct val="0"/>
              </a:spcBef>
            </a:pPr>
            <a:r>
              <a:rPr lang="en-US" b="true" sz="98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57664" y="3116562"/>
            <a:ext cx="5966804" cy="130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1"/>
              </a:lnSpc>
              <a:spcBef>
                <a:spcPct val="0"/>
              </a:spcBef>
            </a:pPr>
            <a:r>
              <a:rPr lang="en-US" b="true" sz="86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&amp; AI Tools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5703" y="4936303"/>
            <a:ext cx="2320665" cy="47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  <a:spcBef>
                <a:spcPct val="0"/>
              </a:spcBef>
            </a:pPr>
            <a:r>
              <a:rPr lang="en-US" b="true" sz="31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7115" y="5668337"/>
            <a:ext cx="2275561" cy="1500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3762" indent="-236881" lvl="1">
              <a:lnSpc>
                <a:spcPts val="2369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React</a:t>
            </a:r>
          </a:p>
          <a:p>
            <a:pPr algn="just">
              <a:lnSpc>
                <a:spcPts val="2369"/>
              </a:lnSpc>
            </a:pPr>
          </a:p>
          <a:p>
            <a:pPr algn="just" marL="473762" indent="-236881" lvl="1">
              <a:lnSpc>
                <a:spcPts val="2369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Tailwind CSS</a:t>
            </a:r>
          </a:p>
          <a:p>
            <a:pPr algn="just">
              <a:lnSpc>
                <a:spcPts val="2369"/>
              </a:lnSpc>
            </a:pPr>
          </a:p>
          <a:p>
            <a:pPr algn="just" marL="473762" indent="-236881" lvl="1">
              <a:lnSpc>
                <a:spcPts val="2369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JavaScript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51388" y="1808502"/>
            <a:ext cx="553292" cy="55329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3E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870021" y="4934453"/>
            <a:ext cx="2167908" cy="47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b="true" sz="31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05042" y="5602174"/>
            <a:ext cx="1913962" cy="31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3762" indent="-236881" lvl="1">
              <a:lnSpc>
                <a:spcPts val="2369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Supabase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51388" y="7430462"/>
            <a:ext cx="553292" cy="55329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3E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1752" y="7468945"/>
            <a:ext cx="2502280" cy="47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b="true" sz="31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REPOSITORY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1863" y="8202829"/>
            <a:ext cx="1558324" cy="31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3762" indent="-236881" lvl="1">
              <a:lnSpc>
                <a:spcPts val="2369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Github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5703" y="1846985"/>
            <a:ext cx="4286320" cy="47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b="true" sz="31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&amp; DESIGN TOOLS: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1066" y="2576745"/>
            <a:ext cx="4960957" cy="179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3762" indent="-236881" lvl="1">
              <a:lnSpc>
                <a:spcPts val="2369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ChatGPT (Prompts Generation)</a:t>
            </a:r>
          </a:p>
          <a:p>
            <a:pPr algn="just">
              <a:lnSpc>
                <a:spcPts val="2369"/>
              </a:lnSpc>
            </a:pPr>
          </a:p>
          <a:p>
            <a:pPr algn="just" marL="473762" indent="-236881" lvl="1">
              <a:lnSpc>
                <a:spcPts val="2369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Lovable (Functional Website)</a:t>
            </a:r>
          </a:p>
          <a:p>
            <a:pPr algn="just">
              <a:lnSpc>
                <a:spcPts val="2369"/>
              </a:lnSpc>
            </a:pPr>
          </a:p>
          <a:p>
            <a:pPr algn="just" marL="473762" indent="-236881" lvl="1">
              <a:lnSpc>
                <a:spcPts val="2369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Canva (Logo &amp; PPT design)</a:t>
            </a:r>
          </a:p>
          <a:p>
            <a:pPr algn="just">
              <a:lnSpc>
                <a:spcPts val="2369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65337" y="192103"/>
            <a:ext cx="4189952" cy="1002598"/>
            <a:chOff x="0" y="0"/>
            <a:chExt cx="1698384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98384" cy="406400"/>
            </a:xfrm>
            <a:custGeom>
              <a:avLst/>
              <a:gdLst/>
              <a:ahLst/>
              <a:cxnLst/>
              <a:rect r="r" b="b" t="t" l="l"/>
              <a:pathLst>
                <a:path h="406400" w="1698384">
                  <a:moveTo>
                    <a:pt x="1495184" y="0"/>
                  </a:moveTo>
                  <a:cubicBezTo>
                    <a:pt x="1607408" y="0"/>
                    <a:pt x="1698384" y="90976"/>
                    <a:pt x="1698384" y="203200"/>
                  </a:cubicBezTo>
                  <a:cubicBezTo>
                    <a:pt x="1698384" y="315424"/>
                    <a:pt x="1607408" y="406400"/>
                    <a:pt x="149518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69838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  <a:r>
                <a:rPr lang="en-US" sz="1775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Mentorship Portal</a:t>
              </a:r>
            </a:p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467115" y="412610"/>
            <a:ext cx="561585" cy="561585"/>
          </a:xfrm>
          <a:custGeom>
            <a:avLst/>
            <a:gdLst/>
            <a:ahLst/>
            <a:cxnLst/>
            <a:rect r="r" b="b" t="t" l="l"/>
            <a:pathLst>
              <a:path h="561585" w="561585">
                <a:moveTo>
                  <a:pt x="0" y="0"/>
                </a:moveTo>
                <a:lnTo>
                  <a:pt x="561585" y="0"/>
                </a:lnTo>
                <a:lnTo>
                  <a:pt x="561585" y="561584"/>
                </a:lnTo>
                <a:lnTo>
                  <a:pt x="0" y="5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41752" y="500760"/>
            <a:ext cx="3051151" cy="38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8"/>
              </a:lnSpc>
              <a:spcBef>
                <a:spcPct val="0"/>
              </a:spcBef>
            </a:pPr>
            <a:r>
              <a:rPr lang="en-US" b="true" sz="2535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Mentorship Portal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5633695" y="192103"/>
            <a:ext cx="2469631" cy="822144"/>
          </a:xfrm>
          <a:custGeom>
            <a:avLst/>
            <a:gdLst/>
            <a:ahLst/>
            <a:cxnLst/>
            <a:rect r="r" b="b" t="t" l="l"/>
            <a:pathLst>
              <a:path h="822144" w="2469631">
                <a:moveTo>
                  <a:pt x="0" y="0"/>
                </a:moveTo>
                <a:lnTo>
                  <a:pt x="2469631" y="0"/>
                </a:lnTo>
                <a:lnTo>
                  <a:pt x="2469631" y="822144"/>
                </a:lnTo>
                <a:lnTo>
                  <a:pt x="0" y="822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451388" y="4895970"/>
            <a:ext cx="553292" cy="55329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3E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192904" y="7468945"/>
            <a:ext cx="553292" cy="553292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3E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999900" y="7507428"/>
            <a:ext cx="2638207" cy="47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b="true" sz="31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69550" y="8202829"/>
            <a:ext cx="1558324" cy="31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3762" indent="-236881" lvl="1">
              <a:lnSpc>
                <a:spcPts val="2369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Vercel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12055" y="1460110"/>
            <a:ext cx="2329465" cy="2355180"/>
            <a:chOff x="0" y="0"/>
            <a:chExt cx="719015" cy="726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015" cy="726953"/>
            </a:xfrm>
            <a:custGeom>
              <a:avLst/>
              <a:gdLst/>
              <a:ahLst/>
              <a:cxnLst/>
              <a:rect r="r" b="b" t="t" l="l"/>
              <a:pathLst>
                <a:path h="726953" w="719015">
                  <a:moveTo>
                    <a:pt x="359508" y="0"/>
                  </a:moveTo>
                  <a:cubicBezTo>
                    <a:pt x="160957" y="0"/>
                    <a:pt x="0" y="162734"/>
                    <a:pt x="0" y="363476"/>
                  </a:cubicBezTo>
                  <a:cubicBezTo>
                    <a:pt x="0" y="564219"/>
                    <a:pt x="160957" y="726953"/>
                    <a:pt x="359508" y="726953"/>
                  </a:cubicBezTo>
                  <a:cubicBezTo>
                    <a:pt x="558058" y="726953"/>
                    <a:pt x="719015" y="564219"/>
                    <a:pt x="719015" y="363476"/>
                  </a:cubicBezTo>
                  <a:cubicBezTo>
                    <a:pt x="719015" y="162734"/>
                    <a:pt x="558058" y="0"/>
                    <a:pt x="359508" y="0"/>
                  </a:cubicBezTo>
                  <a:close/>
                </a:path>
              </a:pathLst>
            </a:custGeom>
            <a:solidFill>
              <a:srgbClr val="295BB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7408" y="68152"/>
              <a:ext cx="584200" cy="590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67115" y="412610"/>
            <a:ext cx="561585" cy="561585"/>
          </a:xfrm>
          <a:custGeom>
            <a:avLst/>
            <a:gdLst/>
            <a:ahLst/>
            <a:cxnLst/>
            <a:rect r="r" b="b" t="t" l="l"/>
            <a:pathLst>
              <a:path h="561585" w="561585">
                <a:moveTo>
                  <a:pt x="0" y="0"/>
                </a:moveTo>
                <a:lnTo>
                  <a:pt x="561585" y="0"/>
                </a:lnTo>
                <a:lnTo>
                  <a:pt x="561585" y="561584"/>
                </a:lnTo>
                <a:lnTo>
                  <a:pt x="0" y="5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3695" y="192103"/>
            <a:ext cx="2469631" cy="822144"/>
          </a:xfrm>
          <a:custGeom>
            <a:avLst/>
            <a:gdLst/>
            <a:ahLst/>
            <a:cxnLst/>
            <a:rect r="r" b="b" t="t" l="l"/>
            <a:pathLst>
              <a:path h="822144" w="2469631">
                <a:moveTo>
                  <a:pt x="0" y="0"/>
                </a:moveTo>
                <a:lnTo>
                  <a:pt x="2469631" y="0"/>
                </a:lnTo>
                <a:lnTo>
                  <a:pt x="2469631" y="822144"/>
                </a:lnTo>
                <a:lnTo>
                  <a:pt x="0" y="822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5390" y="2393361"/>
            <a:ext cx="6115027" cy="6620600"/>
          </a:xfrm>
          <a:custGeom>
            <a:avLst/>
            <a:gdLst/>
            <a:ahLst/>
            <a:cxnLst/>
            <a:rect r="r" b="b" t="t" l="l"/>
            <a:pathLst>
              <a:path h="6620600" w="6115027">
                <a:moveTo>
                  <a:pt x="0" y="0"/>
                </a:moveTo>
                <a:lnTo>
                  <a:pt x="6115027" y="0"/>
                </a:lnTo>
                <a:lnTo>
                  <a:pt x="6115027" y="6620601"/>
                </a:lnTo>
                <a:lnTo>
                  <a:pt x="0" y="6620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35464" y="712452"/>
            <a:ext cx="3424756" cy="130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1"/>
              </a:lnSpc>
              <a:spcBef>
                <a:spcPct val="0"/>
              </a:spcBef>
            </a:pPr>
            <a:r>
              <a:rPr lang="en-US" sz="8696">
                <a:solidFill>
                  <a:srgbClr val="295BBE"/>
                </a:solidFill>
                <a:latin typeface="Poppins Light"/>
                <a:ea typeface="Poppins Light"/>
                <a:cs typeface="Poppins Light"/>
                <a:sym typeface="Poppins Light"/>
              </a:rPr>
              <a:t>Future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35464" y="1771533"/>
            <a:ext cx="8833047" cy="130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1"/>
              </a:lnSpc>
              <a:spcBef>
                <a:spcPct val="0"/>
              </a:spcBef>
            </a:pPr>
            <a:r>
              <a:rPr lang="en-US" b="true" sz="8696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Enhancements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65572" y="3824815"/>
            <a:ext cx="9846484" cy="497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3883" indent="-351942" lvl="1">
              <a:lnSpc>
                <a:spcPts val="3521"/>
              </a:lnSpc>
              <a:buFont typeface="Arial"/>
              <a:buChar char="•"/>
            </a:pPr>
            <a:r>
              <a:rPr lang="en-US" sz="326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Email and in-app notifications</a:t>
            </a:r>
          </a:p>
          <a:p>
            <a:pPr algn="just">
              <a:lnSpc>
                <a:spcPts val="3521"/>
              </a:lnSpc>
            </a:pPr>
          </a:p>
          <a:p>
            <a:pPr algn="just" marL="703883" indent="-351942" lvl="1">
              <a:lnSpc>
                <a:spcPts val="3521"/>
              </a:lnSpc>
              <a:buFont typeface="Arial"/>
              <a:buChar char="•"/>
            </a:pPr>
            <a:r>
              <a:rPr lang="en-US" sz="326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Improved security and role-based access</a:t>
            </a:r>
          </a:p>
          <a:p>
            <a:pPr algn="just">
              <a:lnSpc>
                <a:spcPts val="3521"/>
              </a:lnSpc>
            </a:pPr>
          </a:p>
          <a:p>
            <a:pPr algn="just" marL="703883" indent="-351942" lvl="1">
              <a:lnSpc>
                <a:spcPts val="3521"/>
              </a:lnSpc>
              <a:buFont typeface="Arial"/>
              <a:buChar char="•"/>
            </a:pPr>
            <a:r>
              <a:rPr lang="en-US" sz="326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In-platform chat between mentor and mentee</a:t>
            </a:r>
          </a:p>
          <a:p>
            <a:pPr algn="just">
              <a:lnSpc>
                <a:spcPts val="3521"/>
              </a:lnSpc>
            </a:pPr>
          </a:p>
          <a:p>
            <a:pPr algn="just" marL="703883" indent="-351942" lvl="1">
              <a:lnSpc>
                <a:spcPts val="3521"/>
              </a:lnSpc>
              <a:buFont typeface="Arial"/>
              <a:buChar char="•"/>
            </a:pPr>
            <a:r>
              <a:rPr lang="en-US" sz="326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Feedback and rating system</a:t>
            </a:r>
          </a:p>
          <a:p>
            <a:pPr algn="just">
              <a:lnSpc>
                <a:spcPts val="3521"/>
              </a:lnSpc>
            </a:pPr>
          </a:p>
          <a:p>
            <a:pPr algn="just" marL="703883" indent="-351942" lvl="1">
              <a:lnSpc>
                <a:spcPts val="3521"/>
              </a:lnSpc>
              <a:buFont typeface="Arial"/>
              <a:buChar char="•"/>
            </a:pPr>
            <a:r>
              <a:rPr lang="en-US" sz="326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Advanced analytics and insights</a:t>
            </a:r>
          </a:p>
          <a:p>
            <a:pPr algn="just">
              <a:lnSpc>
                <a:spcPts val="4077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41752" y="500760"/>
            <a:ext cx="3051151" cy="38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8"/>
              </a:lnSpc>
              <a:spcBef>
                <a:spcPct val="0"/>
              </a:spcBef>
            </a:pPr>
            <a:r>
              <a:rPr lang="en-US" b="true" sz="2535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Mentorship Portal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B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33730" y="-3088868"/>
            <a:ext cx="15649575" cy="1564957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505575" y="-1250551"/>
            <a:ext cx="15649575" cy="1564957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6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90996" y="161116"/>
            <a:ext cx="2469631" cy="822144"/>
          </a:xfrm>
          <a:custGeom>
            <a:avLst/>
            <a:gdLst/>
            <a:ahLst/>
            <a:cxnLst/>
            <a:rect r="r" b="b" t="t" l="l"/>
            <a:pathLst>
              <a:path h="822144" w="2469631">
                <a:moveTo>
                  <a:pt x="0" y="0"/>
                </a:moveTo>
                <a:lnTo>
                  <a:pt x="2469631" y="0"/>
                </a:lnTo>
                <a:lnTo>
                  <a:pt x="2469631" y="822144"/>
                </a:lnTo>
                <a:lnTo>
                  <a:pt x="0" y="8221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92729" y="3102297"/>
            <a:ext cx="6784192" cy="240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12"/>
              </a:lnSpc>
              <a:spcBef>
                <a:spcPct val="0"/>
              </a:spcBef>
            </a:pPr>
            <a:r>
              <a:rPr lang="en-US" sz="16029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Thank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2729" y="4808929"/>
            <a:ext cx="5774245" cy="240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12"/>
              </a:lnSpc>
              <a:spcBef>
                <a:spcPct val="0"/>
              </a:spcBef>
            </a:pPr>
            <a:r>
              <a:rPr lang="en-US" b="true" sz="16029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You!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5233" y="8423887"/>
            <a:ext cx="9606619" cy="80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2"/>
              </a:lnSpc>
              <a:spcBef>
                <a:spcPct val="0"/>
              </a:spcBef>
            </a:pPr>
            <a:r>
              <a:rPr lang="en-US" sz="2826">
                <a:solidFill>
                  <a:srgbClr val="295BBE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will now demonstrate the working prototype of our</a:t>
            </a:r>
          </a:p>
          <a:p>
            <a:pPr algn="ctr">
              <a:lnSpc>
                <a:spcPts val="3052"/>
              </a:lnSpc>
              <a:spcBef>
                <a:spcPct val="0"/>
              </a:spcBef>
            </a:pPr>
            <a:r>
              <a:rPr lang="en-US" sz="2826">
                <a:solidFill>
                  <a:srgbClr val="295BBE"/>
                </a:solidFill>
                <a:latin typeface="Poppins Light"/>
                <a:ea typeface="Poppins Light"/>
                <a:cs typeface="Poppins Light"/>
                <a:sym typeface="Poppins Light"/>
              </a:rPr>
              <a:t> Mentorship Portal.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67115" y="412610"/>
            <a:ext cx="561585" cy="561585"/>
          </a:xfrm>
          <a:custGeom>
            <a:avLst/>
            <a:gdLst/>
            <a:ahLst/>
            <a:cxnLst/>
            <a:rect r="r" b="b" t="t" l="l"/>
            <a:pathLst>
              <a:path h="561585" w="561585">
                <a:moveTo>
                  <a:pt x="0" y="0"/>
                </a:moveTo>
                <a:lnTo>
                  <a:pt x="561585" y="0"/>
                </a:lnTo>
                <a:lnTo>
                  <a:pt x="561585" y="561584"/>
                </a:lnTo>
                <a:lnTo>
                  <a:pt x="0" y="56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41752" y="500760"/>
            <a:ext cx="3051151" cy="38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8"/>
              </a:lnSpc>
              <a:spcBef>
                <a:spcPct val="0"/>
              </a:spcBef>
            </a:pPr>
            <a:r>
              <a:rPr lang="en-US" b="true" sz="2535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Mentorship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DAHALd8Enwo</dc:identifier>
  <dcterms:modified xsi:type="dcterms:W3CDTF">2011-08-01T06:04:30Z</dcterms:modified>
  <cp:revision>1</cp:revision>
  <dc:title>Mentorship Portal</dc:title>
</cp:coreProperties>
</file>